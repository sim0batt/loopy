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embeddedFontLst>
    <p:embeddedFont>
      <p:font typeface="Nunito"/>
      <p:regular r:id="rId13"/>
      <p:bold r:id="rId14"/>
      <p:italic r:id="rId15"/>
      <p:boldItalic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Nunito-regular.fntdata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Nunito-italic.fntdata"/><Relationship Id="rId14" Type="http://schemas.openxmlformats.org/officeDocument/2006/relationships/font" Target="fonts/Nunito-bold.fntdata"/><Relationship Id="rId16" Type="http://schemas.openxmlformats.org/officeDocument/2006/relationships/font" Target="fonts/Nunito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c65649fa21_0_1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c65649fa21_0_1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c65649fa21_0_1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c65649fa21_0_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c65649fa21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c65649fa21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c65649fa21_0_1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c65649fa21_0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c65649fa21_0_1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c65649fa21_0_1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c65649fa21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c65649fa21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/>
          <p:nvPr/>
        </p:nvSpPr>
        <p:spPr>
          <a:xfrm rot="10800000">
            <a:off x="5058905" y="0"/>
            <a:ext cx="4085100" cy="20526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20327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" name="Google Shape;14;p2"/>
          <p:cNvGrpSpPr/>
          <p:nvPr/>
        </p:nvGrpSpPr>
        <p:grpSpPr>
          <a:xfrm>
            <a:off x="255200" y="592"/>
            <a:ext cx="2250363" cy="1044300"/>
            <a:chOff x="255200" y="592"/>
            <a:chExt cx="2250363" cy="1044300"/>
          </a:xfrm>
        </p:grpSpPr>
        <p:sp>
          <p:nvSpPr>
            <p:cNvPr id="15" name="Google Shape;15;p2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8" name="Google Shape;18;p2"/>
          <p:cNvGrpSpPr/>
          <p:nvPr/>
        </p:nvGrpSpPr>
        <p:grpSpPr>
          <a:xfrm>
            <a:off x="905395" y="592"/>
            <a:ext cx="2250363" cy="1044300"/>
            <a:chOff x="905395" y="592"/>
            <a:chExt cx="2250363" cy="1044300"/>
          </a:xfrm>
        </p:grpSpPr>
        <p:sp>
          <p:nvSpPr>
            <p:cNvPr id="19" name="Google Shape;19;p2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7057468" y="5088"/>
            <a:ext cx="1851282" cy="752108"/>
            <a:chOff x="6917201" y="0"/>
            <a:chExt cx="2227777" cy="863400"/>
          </a:xfrm>
        </p:grpSpPr>
        <p:sp>
          <p:nvSpPr>
            <p:cNvPr id="23" name="Google Shape;23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6553032" y="4217852"/>
            <a:ext cx="2389068" cy="925737"/>
            <a:chOff x="6917201" y="0"/>
            <a:chExt cx="2227777" cy="863400"/>
          </a:xfrm>
        </p:grpSpPr>
        <p:sp>
          <p:nvSpPr>
            <p:cNvPr id="27" name="Google Shape;27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199149" y="4055652"/>
            <a:ext cx="2795414" cy="1083308"/>
            <a:chOff x="6917201" y="0"/>
            <a:chExt cx="2227777" cy="863400"/>
          </a:xfrm>
        </p:grpSpPr>
        <p:sp>
          <p:nvSpPr>
            <p:cNvPr id="31" name="Google Shape;31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4" name="Google Shape;34;p2"/>
          <p:cNvSpPr txBox="1"/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35" name="Google Shape;35;p2"/>
          <p:cNvSpPr txBox="1"/>
          <p:nvPr>
            <p:ph idx="1" type="subTitle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6" name="Google Shape;36;p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4757100" y="2309400"/>
            <a:ext cx="4386900" cy="28341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9" name="Google Shape;39;p3"/>
          <p:cNvGrpSpPr/>
          <p:nvPr/>
        </p:nvGrpSpPr>
        <p:grpSpPr>
          <a:xfrm>
            <a:off x="5594191" y="3961115"/>
            <a:ext cx="2910145" cy="1182340"/>
            <a:chOff x="6917201" y="0"/>
            <a:chExt cx="2227777" cy="863400"/>
          </a:xfrm>
        </p:grpSpPr>
        <p:sp>
          <p:nvSpPr>
            <p:cNvPr id="40" name="Google Shape;40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3" name="Google Shape;43;p3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44" name="Google Shape;44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7" name="Google Shape;47;p3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8" name="Google Shape;48;p3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bg>
      <p:bgPr>
        <a:solidFill>
          <a:schemeClr val="dk2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4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54" name="Google Shape;54;p4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4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bg>
      <p:bgPr>
        <a:solidFill>
          <a:schemeClr val="dk2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5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1" name="Google Shape;61;p5"/>
          <p:cNvSpPr txBox="1"/>
          <p:nvPr>
            <p:ph idx="1" type="body"/>
          </p:nvPr>
        </p:nvSpPr>
        <p:spPr>
          <a:xfrm>
            <a:off x="819150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2" name="Google Shape;62;p5"/>
          <p:cNvSpPr txBox="1"/>
          <p:nvPr>
            <p:ph idx="2" type="body"/>
          </p:nvPr>
        </p:nvSpPr>
        <p:spPr>
          <a:xfrm>
            <a:off x="4638675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3" name="Google Shape;63;p5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chemeClr val="dk2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6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6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6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9" name="Google Shape;69;p6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solidFill>
          <a:schemeClr val="accent3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7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7"/>
          <p:cNvSpPr txBox="1"/>
          <p:nvPr>
            <p:ph type="title"/>
          </p:nvPr>
        </p:nvSpPr>
        <p:spPr>
          <a:xfrm>
            <a:off x="819150" y="845600"/>
            <a:ext cx="3709200" cy="138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75" name="Google Shape;75;p7"/>
          <p:cNvSpPr txBox="1"/>
          <p:nvPr>
            <p:ph idx="1" type="body"/>
          </p:nvPr>
        </p:nvSpPr>
        <p:spPr>
          <a:xfrm>
            <a:off x="830700" y="2319050"/>
            <a:ext cx="3709200" cy="211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76" name="Google Shape;76;p7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1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2823144"/>
            <a:ext cx="7369200" cy="23169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8"/>
          <p:cNvSpPr/>
          <p:nvPr/>
        </p:nvSpPr>
        <p:spPr>
          <a:xfrm flipH="1">
            <a:off x="3583210" y="1554113"/>
            <a:ext cx="5560500" cy="35895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0" name="Google Shape;80;p8"/>
          <p:cNvGrpSpPr/>
          <p:nvPr/>
        </p:nvGrpSpPr>
        <p:grpSpPr>
          <a:xfrm>
            <a:off x="255991" y="-118"/>
            <a:ext cx="2251347" cy="1043408"/>
            <a:chOff x="3961956" y="4383950"/>
            <a:chExt cx="1160548" cy="548700"/>
          </a:xfrm>
        </p:grpSpPr>
        <p:sp>
          <p:nvSpPr>
            <p:cNvPr id="81" name="Google Shape;81;p8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4" name="Google Shape;84;p8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5" name="Google Shape;85;p8"/>
          <p:cNvGrpSpPr/>
          <p:nvPr/>
        </p:nvGrpSpPr>
        <p:grpSpPr>
          <a:xfrm>
            <a:off x="34934" y="4522125"/>
            <a:ext cx="1593306" cy="617072"/>
            <a:chOff x="6917201" y="0"/>
            <a:chExt cx="2227777" cy="863400"/>
          </a:xfrm>
        </p:grpSpPr>
        <p:sp>
          <p:nvSpPr>
            <p:cNvPr id="86" name="Google Shape;86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9" name="Google Shape;89;p8"/>
          <p:cNvGrpSpPr/>
          <p:nvPr/>
        </p:nvGrpSpPr>
        <p:grpSpPr>
          <a:xfrm>
            <a:off x="5886353" y="1243"/>
            <a:ext cx="3257455" cy="1261514"/>
            <a:chOff x="6917201" y="0"/>
            <a:chExt cx="2227777" cy="863400"/>
          </a:xfrm>
        </p:grpSpPr>
        <p:sp>
          <p:nvSpPr>
            <p:cNvPr id="90" name="Google Shape;90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3" name="Google Shape;93;p8"/>
          <p:cNvSpPr txBox="1"/>
          <p:nvPr>
            <p:ph type="title"/>
          </p:nvPr>
        </p:nvSpPr>
        <p:spPr>
          <a:xfrm>
            <a:off x="1393929" y="1301146"/>
            <a:ext cx="6366900" cy="253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94" name="Google Shape;94;p8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bg>
      <p:bgPr>
        <a:solidFill>
          <a:schemeClr val="dk2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9"/>
          <p:cNvSpPr txBox="1"/>
          <p:nvPr>
            <p:ph type="title"/>
          </p:nvPr>
        </p:nvSpPr>
        <p:spPr>
          <a:xfrm>
            <a:off x="819150" y="845600"/>
            <a:ext cx="6424200" cy="7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00" name="Google Shape;100;p9"/>
          <p:cNvSpPr txBox="1"/>
          <p:nvPr>
            <p:ph idx="1" type="subTitle"/>
          </p:nvPr>
        </p:nvSpPr>
        <p:spPr>
          <a:xfrm>
            <a:off x="819150" y="1550700"/>
            <a:ext cx="58599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1" name="Google Shape;101;p9"/>
          <p:cNvSpPr txBox="1"/>
          <p:nvPr>
            <p:ph idx="2" type="body"/>
          </p:nvPr>
        </p:nvSpPr>
        <p:spPr>
          <a:xfrm>
            <a:off x="819150" y="2467050"/>
            <a:ext cx="5859900" cy="20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2" name="Google Shape;102;p9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bg>
      <p:bgPr>
        <a:solidFill>
          <a:schemeClr val="accent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0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0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0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328025" y="4163500"/>
            <a:ext cx="7415100" cy="60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8" name="Google Shape;108;p10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"/>
          <p:cNvSpPr/>
          <p:nvPr/>
        </p:nvSpPr>
        <p:spPr>
          <a:xfrm flipH="1">
            <a:off x="5569200" y="2834075"/>
            <a:ext cx="3574800" cy="23094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1" name="Google Shape;111;p11"/>
          <p:cNvGrpSpPr/>
          <p:nvPr/>
        </p:nvGrpSpPr>
        <p:grpSpPr>
          <a:xfrm>
            <a:off x="5959222" y="4119576"/>
            <a:ext cx="2520952" cy="1024165"/>
            <a:chOff x="6917201" y="0"/>
            <a:chExt cx="2227777" cy="863400"/>
          </a:xfrm>
        </p:grpSpPr>
        <p:sp>
          <p:nvSpPr>
            <p:cNvPr id="112" name="Google Shape;112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116" name="Google Shape;116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9" name="Google Shape;119;p11"/>
          <p:cNvSpPr txBox="1"/>
          <p:nvPr>
            <p:ph hasCustomPrompt="1" type="title"/>
          </p:nvPr>
        </p:nvSpPr>
        <p:spPr>
          <a:xfrm>
            <a:off x="1385850" y="1383850"/>
            <a:ext cx="6372300" cy="1379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1"/>
          <p:cNvSpPr txBox="1"/>
          <p:nvPr>
            <p:ph idx="1" type="body"/>
          </p:nvPr>
        </p:nvSpPr>
        <p:spPr>
          <a:xfrm>
            <a:off x="1385850" y="2863850"/>
            <a:ext cx="6372300" cy="64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1" name="Google Shape;121;p1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hift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Calibri"/>
              <a:buChar char="●"/>
              <a:defRPr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mc:AlternateContent>
    <mc:Choice Requires="p14">
      <p:transition spd="slow" p14:dur="16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3.png"/><Relationship Id="rId8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github.com/Sim0Batt/Loopy/blob/main/documentation/Functional_Sheet_Loopy.pdf" TargetMode="External"/><Relationship Id="rId4" Type="http://schemas.openxmlformats.org/officeDocument/2006/relationships/hyperlink" Target="https://github.com/Sim0Batt/Loopy/blob/main/documentation/Technical_Sheet_Loopy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13" title="loopy_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84075" y="1975775"/>
            <a:ext cx="3375850" cy="1191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4"/>
          <p:cNvSpPr txBox="1"/>
          <p:nvPr>
            <p:ph type="title"/>
          </p:nvPr>
        </p:nvSpPr>
        <p:spPr>
          <a:xfrm>
            <a:off x="819150" y="845600"/>
            <a:ext cx="4965000" cy="6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Aim of the Project</a:t>
            </a:r>
            <a:endParaRPr/>
          </a:p>
        </p:txBody>
      </p:sp>
      <p:sp>
        <p:nvSpPr>
          <p:cNvPr id="134" name="Google Shape;134;p14"/>
          <p:cNvSpPr txBox="1"/>
          <p:nvPr>
            <p:ph idx="1" type="body"/>
          </p:nvPr>
        </p:nvSpPr>
        <p:spPr>
          <a:xfrm>
            <a:off x="819150" y="1461800"/>
            <a:ext cx="7505700" cy="168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it" sz="1700"/>
              <a:t>Health </a:t>
            </a:r>
            <a:r>
              <a:rPr lang="it" sz="1700"/>
              <a:t>Armband</a:t>
            </a:r>
            <a:r>
              <a:rPr lang="it" sz="1700"/>
              <a:t> Monitor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it" sz="1700"/>
              <a:t>Provide Health information during the day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it" sz="1700"/>
              <a:t>Comfort of Use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it" sz="1700"/>
              <a:t>Ease of Use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it" sz="1700"/>
              <a:t>Provide more information </a:t>
            </a:r>
            <a:r>
              <a:rPr lang="it" sz="1700"/>
              <a:t>than</a:t>
            </a:r>
            <a:r>
              <a:rPr lang="it" sz="1700"/>
              <a:t> the usual Sport SmartWatches</a:t>
            </a:r>
            <a:endParaRPr sz="1700"/>
          </a:p>
        </p:txBody>
      </p:sp>
      <p:pic>
        <p:nvPicPr>
          <p:cNvPr id="135" name="Google Shape;135;p14" title="loopy_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29625" y="432275"/>
            <a:ext cx="2178225" cy="76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5"/>
          <p:cNvSpPr txBox="1"/>
          <p:nvPr>
            <p:ph type="title"/>
          </p:nvPr>
        </p:nvSpPr>
        <p:spPr>
          <a:xfrm>
            <a:off x="819150" y="466600"/>
            <a:ext cx="7505700" cy="65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Project Flow</a:t>
            </a:r>
            <a:endParaRPr/>
          </a:p>
        </p:txBody>
      </p:sp>
      <p:pic>
        <p:nvPicPr>
          <p:cNvPr id="141" name="Google Shape;141;p15" title="Screenshot 2026-02-07 at 16.05.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150" y="1290325"/>
            <a:ext cx="3642225" cy="256285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5"/>
          <p:cNvSpPr txBox="1"/>
          <p:nvPr/>
        </p:nvSpPr>
        <p:spPr>
          <a:xfrm>
            <a:off x="5856400" y="1989750"/>
            <a:ext cx="2238000" cy="11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9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 CODE SNIPPETS</a:t>
            </a:r>
            <a:endParaRPr b="1" sz="29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3" name="Google Shape;143;p15" title="loopy_log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29625" y="432275"/>
            <a:ext cx="2178225" cy="76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6"/>
          <p:cNvSpPr txBox="1"/>
          <p:nvPr>
            <p:ph type="title"/>
          </p:nvPr>
        </p:nvSpPr>
        <p:spPr>
          <a:xfrm>
            <a:off x="819150" y="845600"/>
            <a:ext cx="7505700" cy="65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Testing &amp; Problems</a:t>
            </a:r>
            <a:endParaRPr/>
          </a:p>
        </p:txBody>
      </p:sp>
      <p:sp>
        <p:nvSpPr>
          <p:cNvPr id="149" name="Google Shape;149;p16"/>
          <p:cNvSpPr txBox="1"/>
          <p:nvPr/>
        </p:nvSpPr>
        <p:spPr>
          <a:xfrm>
            <a:off x="794075" y="1588175"/>
            <a:ext cx="7805400" cy="30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To test our device we used the full system (Application + Armband) a whole day.</a:t>
            </a:r>
            <a:endParaRPr sz="15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Problems:</a:t>
            </a:r>
            <a:endParaRPr b="1" sz="15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Calibri"/>
              <a:buChar char="●"/>
            </a:pPr>
            <a:r>
              <a:rPr lang="it" sz="1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RAM</a:t>
            </a:r>
            <a:endParaRPr sz="15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Calibri"/>
              <a:buChar char="●"/>
            </a:pPr>
            <a:r>
              <a:rPr lang="it" sz="1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WiFi</a:t>
            </a:r>
            <a:endParaRPr sz="15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Possible Solutions:</a:t>
            </a:r>
            <a:endParaRPr b="1" sz="15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Calibri"/>
              <a:buChar char="●"/>
            </a:pPr>
            <a:r>
              <a:rPr lang="it" sz="1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Upgrade</a:t>
            </a:r>
            <a:r>
              <a:rPr lang="it" sz="1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of the data algorithms to make them use less RAM during the calculations</a:t>
            </a:r>
            <a:endParaRPr sz="15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Calibri"/>
              <a:buChar char="●"/>
            </a:pPr>
            <a:r>
              <a:rPr lang="it" sz="1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Use of a Static Wifi provided from the Raspberry to connect </a:t>
            </a:r>
            <a:r>
              <a:rPr lang="it" sz="1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automatically</a:t>
            </a:r>
            <a:r>
              <a:rPr lang="it" sz="1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the system to the device</a:t>
            </a:r>
            <a:endParaRPr sz="15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0" name="Google Shape;150;p16" title="loopy_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29625" y="432275"/>
            <a:ext cx="2178225" cy="76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7"/>
          <p:cNvSpPr txBox="1"/>
          <p:nvPr>
            <p:ph type="title"/>
          </p:nvPr>
        </p:nvSpPr>
        <p:spPr>
          <a:xfrm>
            <a:off x="819150" y="583900"/>
            <a:ext cx="7505700" cy="64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Remote Management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673800" y="1272325"/>
            <a:ext cx="7796400" cy="8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To manage the information retrieved from the device remotely we created a Mobile Android Application.</a:t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The application is composed by 6 screens in total: </a:t>
            </a:r>
            <a:r>
              <a:rPr b="1" lang="it"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HomePage, Data, Chat, Device Status, Profile </a:t>
            </a:r>
            <a:r>
              <a:rPr lang="it"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b="1" lang="it"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Settings.</a:t>
            </a:r>
            <a:endParaRPr b="1"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7" name="Google Shape;157;p17" title="Screenshot 2026-02-07 at 16.27.2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56862" y="2124850"/>
            <a:ext cx="1168000" cy="24905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17" title="Screenshot 2026-02-07 at 16.28.1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0613" y="2126150"/>
            <a:ext cx="1168000" cy="2487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17" title="Screenshot 2026-02-07 at 16.28.47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16432" y="2120650"/>
            <a:ext cx="1168000" cy="2494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17" title="Screenshot 2026-02-07 at 16.29.08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382263" y="2154561"/>
            <a:ext cx="1168000" cy="24595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7" title="Screenshot 2026-02-07 at 16.29.28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692832" y="2128190"/>
            <a:ext cx="1168000" cy="248721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7" title="loopy_logo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529625" y="432275"/>
            <a:ext cx="2178225" cy="76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1000">
        <p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8"/>
          <p:cNvSpPr txBox="1"/>
          <p:nvPr>
            <p:ph type="title"/>
          </p:nvPr>
        </p:nvSpPr>
        <p:spPr>
          <a:xfrm>
            <a:off x="819150" y="601950"/>
            <a:ext cx="7505700" cy="59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Future Ideas</a:t>
            </a:r>
            <a:endParaRPr/>
          </a:p>
        </p:txBody>
      </p:sp>
      <p:sp>
        <p:nvSpPr>
          <p:cNvPr id="168" name="Google Shape;168;p18"/>
          <p:cNvSpPr txBox="1"/>
          <p:nvPr>
            <p:ph idx="1" type="body"/>
          </p:nvPr>
        </p:nvSpPr>
        <p:spPr>
          <a:xfrm>
            <a:off x="819150" y="1525000"/>
            <a:ext cx="7505700" cy="242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it" sz="1600"/>
              <a:t>Use of a smaller MicroController to make the device more easy and comfortable to wear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it" sz="1600"/>
              <a:t>Improve the AWS Machines to use a single one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it" sz="1600"/>
              <a:t>Make it wearable also in different part of the body, not only the arm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it" sz="1600"/>
              <a:t>Improve of the Algorithms 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it" sz="1600"/>
              <a:t>Security and Encryption on Login and Register phases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it" sz="1600"/>
              <a:t>Improvement of LLM usage with more specified LLMs or create an appropriate custom LLM.  </a:t>
            </a:r>
            <a:endParaRPr sz="1600"/>
          </a:p>
        </p:txBody>
      </p:sp>
      <p:pic>
        <p:nvPicPr>
          <p:cNvPr id="169" name="Google Shape;169;p18" title="loopy_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29625" y="432275"/>
            <a:ext cx="2178225" cy="76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1600">
        <p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9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" sz="4800"/>
              <a:t>Questions?</a:t>
            </a:r>
            <a:endParaRPr sz="4800"/>
          </a:p>
        </p:txBody>
      </p:sp>
      <p:sp>
        <p:nvSpPr>
          <p:cNvPr id="175" name="Google Shape;175;p19"/>
          <p:cNvSpPr txBox="1"/>
          <p:nvPr/>
        </p:nvSpPr>
        <p:spPr>
          <a:xfrm>
            <a:off x="3854550" y="2147700"/>
            <a:ext cx="1434900" cy="84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Functional Sheet</a:t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Technical Sheet</a:t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